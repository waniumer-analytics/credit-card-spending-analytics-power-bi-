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64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69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8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7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686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120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1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48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65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8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101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288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41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062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065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446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29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4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Credit Card Customer &amp; Transaction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Financial Services / Banking Analytics Project</a:t>
            </a:r>
          </a:p>
          <a:p>
            <a:endParaRPr dirty="0"/>
          </a:p>
          <a:p>
            <a:pPr marL="0" indent="0">
              <a:buNone/>
            </a:pPr>
            <a:r>
              <a:rPr lang="en-US" dirty="0"/>
              <a:t>DESIGNED BY:-  WANI UMER (</a:t>
            </a:r>
            <a:r>
              <a:rPr dirty="0"/>
              <a:t>Data Analyst</a:t>
            </a:r>
            <a:r>
              <a:rPr lang="en-US" dirty="0"/>
              <a:t>)</a:t>
            </a:r>
            <a:endParaRPr dirty="0"/>
          </a:p>
          <a:p>
            <a:endParaRPr dirty="0"/>
          </a:p>
          <a:p>
            <a:r>
              <a:rPr dirty="0"/>
              <a:t>Tools: Power BI | SQL | DAX | Power Query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This project analyzes credit card customer behavior and transaction activity.</a:t>
            </a:r>
          </a:p>
          <a:p>
            <a:endParaRPr/>
          </a:p>
          <a:p>
            <a:r>
              <a:t>The dashboard provides insights into:</a:t>
            </a:r>
          </a:p>
          <a:p>
            <a:r>
              <a:t>- Customer spending behavior</a:t>
            </a:r>
          </a:p>
          <a:p>
            <a:r>
              <a:t>- Revenue drivers</a:t>
            </a:r>
          </a:p>
          <a:p>
            <a:r>
              <a:t>- Card product performance</a:t>
            </a:r>
          </a:p>
          <a:p>
            <a:r>
              <a:t>- Demographic segmentation</a:t>
            </a:r>
          </a:p>
          <a:p>
            <a:r>
              <a:t>- Geographic revenue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Credit card companies manage large transaction volumes and diverse customer segments.</a:t>
            </a:r>
          </a:p>
          <a:p>
            <a:endParaRPr/>
          </a:p>
          <a:p>
            <a:r>
              <a:t>Challenges include:</a:t>
            </a:r>
          </a:p>
          <a:p>
            <a:r>
              <a:t>- Understanding spending behavior</a:t>
            </a:r>
          </a:p>
          <a:p>
            <a:r>
              <a:t>- Identifying revenue drivers</a:t>
            </a:r>
          </a:p>
          <a:p>
            <a:r>
              <a:t>- Monitoring customer satisfaction</a:t>
            </a:r>
          </a:p>
          <a:p>
            <a:r>
              <a:t>- Tracking transaction patterns</a:t>
            </a:r>
          </a:p>
          <a:p>
            <a:endParaRPr/>
          </a:p>
          <a:p>
            <a:r>
              <a:t>Analytics dashboards help support data‑driven financial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Extraction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SQL was used to create the database and import transaction data.</a:t>
            </a:r>
          </a:p>
          <a:p>
            <a:endParaRPr/>
          </a:p>
          <a:p>
            <a:r>
              <a:t>Key tables include:</a:t>
            </a:r>
          </a:p>
          <a:p>
            <a:r>
              <a:t>- credit_card</a:t>
            </a:r>
          </a:p>
          <a:p>
            <a:r>
              <a:t>- customer_transaction</a:t>
            </a:r>
          </a:p>
          <a:p>
            <a:endParaRPr/>
          </a:p>
          <a:p>
            <a:r>
              <a:t>Key attributes analyzed include credit limit, transaction amount, income, utilization ratio, and satisfaction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The dataset was modeled using a relational structure.</a:t>
            </a:r>
          </a:p>
          <a:p>
            <a:endParaRPr/>
          </a:p>
          <a:p>
            <a:r>
              <a:t>Fact Table:</a:t>
            </a:r>
          </a:p>
          <a:p>
            <a:r>
              <a:t>- Credit card transactions</a:t>
            </a:r>
          </a:p>
          <a:p>
            <a:endParaRPr/>
          </a:p>
          <a:p>
            <a:r>
              <a:t>Dimension Tables:</a:t>
            </a:r>
          </a:p>
          <a:p>
            <a:r>
              <a:t>- Customers</a:t>
            </a:r>
          </a:p>
          <a:p>
            <a:r>
              <a:t>- Demographics</a:t>
            </a:r>
          </a:p>
          <a:p>
            <a:r>
              <a:t>- Time</a:t>
            </a:r>
          </a:p>
          <a:p>
            <a:r>
              <a:t>- Card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Power Query transformations included:</a:t>
            </a:r>
          </a:p>
          <a:p>
            <a:r>
              <a:t>- Data normalization</a:t>
            </a:r>
          </a:p>
          <a:p>
            <a:r>
              <a:t>- Date formatting</a:t>
            </a:r>
          </a:p>
          <a:p>
            <a:r>
              <a:t>- Removing duplicates</a:t>
            </a:r>
          </a:p>
          <a:p>
            <a:r>
              <a:t>- Categorizing customer attributes</a:t>
            </a:r>
          </a:p>
          <a:p>
            <a:endParaRPr/>
          </a:p>
          <a:p>
            <a:r>
              <a:t>This ensures accurate analytical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Key financial KPIs were calculated using DAX.</a:t>
            </a:r>
          </a:p>
          <a:p>
            <a:endParaRPr/>
          </a:p>
          <a:p>
            <a:r>
              <a:t>Examples include:</a:t>
            </a:r>
          </a:p>
          <a:p>
            <a:r>
              <a:t>- Total Revenue</a:t>
            </a:r>
          </a:p>
          <a:p>
            <a:r>
              <a:t>- Total Interest Earned</a:t>
            </a:r>
          </a:p>
          <a:p>
            <a:r>
              <a:t>- Total Transaction Amount</a:t>
            </a:r>
          </a:p>
          <a:p>
            <a:r>
              <a:t>- Transaction Count</a:t>
            </a:r>
          </a:p>
          <a:p>
            <a:r>
              <a:t>- Customer Satisfaction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Key metrics:</a:t>
            </a:r>
          </a:p>
          <a:p>
            <a:endParaRPr/>
          </a:p>
          <a:p>
            <a:r>
              <a:t>Total Revenue: $57M</a:t>
            </a:r>
          </a:p>
          <a:p>
            <a:r>
              <a:t>Interest Income: $8M</a:t>
            </a:r>
          </a:p>
          <a:p>
            <a:r>
              <a:t>Transaction Value: $46M</a:t>
            </a:r>
          </a:p>
          <a:p>
            <a:r>
              <a:t>Transactions: 667K</a:t>
            </a:r>
          </a:p>
          <a:p>
            <a:r>
              <a:t>Customer Satisfaction Score: 3.19 /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Spending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monthly revenue by gender:</a:t>
            </a:r>
          </a:p>
          <a:p>
            <a:endParaRPr/>
          </a:p>
          <a:p>
            <a:r>
              <a:t>Male: $1.15M</a:t>
            </a:r>
          </a:p>
          <a:p>
            <a:r>
              <a:t>Female: $0.89M</a:t>
            </a:r>
          </a:p>
          <a:p>
            <a:endParaRPr/>
          </a:p>
          <a:p>
            <a:r>
              <a:t>Males spend approximately 22–30% more than female customers.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Group Revenue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revenue by age group:</a:t>
            </a:r>
          </a:p>
          <a:p>
            <a:endParaRPr/>
          </a:p>
          <a:p>
            <a:r>
              <a:t>40–50 age group generates the highest revenue.</a:t>
            </a:r>
          </a:p>
          <a:p>
            <a:r>
              <a:t>50–60 contributes strong additional revenue.</a:t>
            </a:r>
          </a:p>
          <a:p>
            <a:r>
              <a:t>20–30 segment remains underrepresented.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 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Revenue by card type:</a:t>
            </a:r>
          </a:p>
          <a:p>
            <a:endParaRPr/>
          </a:p>
          <a:p>
            <a:r>
              <a:t>Blue Card: $47M (83%)</a:t>
            </a:r>
          </a:p>
          <a:p>
            <a:r>
              <a:t>Silver Card: $5.6M</a:t>
            </a:r>
          </a:p>
          <a:p>
            <a:r>
              <a:t>Gold Card: $2.5M</a:t>
            </a:r>
          </a:p>
          <a:p>
            <a:r>
              <a:t>Platinum Card: $1.1M</a:t>
            </a:r>
          </a:p>
          <a:p>
            <a:endParaRPr/>
          </a:p>
          <a:p>
            <a:r>
              <a:t>Business is highly dependent on Blue cards.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Customer Occupation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Top revenue-generating occupations:</a:t>
            </a:r>
          </a:p>
          <a:p>
            <a:endParaRPr/>
          </a:p>
          <a:p>
            <a:r>
              <a:t>Businessmen: $17M</a:t>
            </a:r>
          </a:p>
          <a:p>
            <a:r>
              <a:t>Government Employees: $8.3M</a:t>
            </a:r>
          </a:p>
          <a:p>
            <a:r>
              <a:t>Blue Collar Workers: $7M</a:t>
            </a:r>
          </a:p>
          <a:p>
            <a:endParaRPr/>
          </a:p>
          <a:p>
            <a:r>
              <a:t>Blue-collar workers show strong engagement relative to income.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Spending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Revenue by spending category:</a:t>
            </a:r>
          </a:p>
          <a:p>
            <a:endParaRPr/>
          </a:p>
          <a:p>
            <a:r>
              <a:t>Bills: $14M</a:t>
            </a:r>
          </a:p>
          <a:p>
            <a:r>
              <a:t>Entertainment: $10M</a:t>
            </a:r>
          </a:p>
          <a:p>
            <a:r>
              <a:t>Fuel: $10M</a:t>
            </a:r>
          </a:p>
          <a:p>
            <a:r>
              <a:t>Groceries: $9M</a:t>
            </a:r>
          </a:p>
          <a:p>
            <a:r>
              <a:t>Food: $8M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Geographic Revenue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Top revenue-generating states:</a:t>
            </a:r>
          </a:p>
          <a:p>
            <a:endParaRPr/>
          </a:p>
          <a:p>
            <a:r>
              <a:t>Texas</a:t>
            </a:r>
          </a:p>
          <a:p>
            <a:r>
              <a:t>New York</a:t>
            </a:r>
          </a:p>
          <a:p>
            <a:r>
              <a:t>California</a:t>
            </a:r>
          </a:p>
          <a:p>
            <a:r>
              <a:t>Florida</a:t>
            </a:r>
          </a:p>
          <a:p>
            <a:r>
              <a:t>New Jersey</a:t>
            </a:r>
          </a:p>
          <a:p>
            <a:endParaRPr/>
          </a:p>
          <a:p>
            <a:r>
              <a:t>These states contribute over 90% of revenue.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Method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Transaction method distribution:</a:t>
            </a:r>
          </a:p>
          <a:p>
            <a:endParaRPr/>
          </a:p>
          <a:p>
            <a:r>
              <a:t>Swipe: 63%</a:t>
            </a:r>
          </a:p>
          <a:p>
            <a:r>
              <a:t>Chip: 30%</a:t>
            </a:r>
          </a:p>
          <a:p>
            <a:r>
              <a:t>Online: 7%</a:t>
            </a:r>
          </a:p>
          <a:p>
            <a:endParaRPr/>
          </a:p>
          <a:p>
            <a:r>
              <a:t>Traditional swipe transactions dominate.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Quarterly revenue trend:</a:t>
            </a:r>
          </a:p>
          <a:p>
            <a:endParaRPr/>
          </a:p>
          <a:p>
            <a:r>
              <a:t>Q1: $14M</a:t>
            </a:r>
          </a:p>
          <a:p>
            <a:r>
              <a:t>Q2: $13.8M</a:t>
            </a:r>
          </a:p>
          <a:p>
            <a:r>
              <a:t>Q3: $14.2M</a:t>
            </a:r>
          </a:p>
          <a:p>
            <a:r>
              <a:t>Q4: $14.6M</a:t>
            </a:r>
          </a:p>
          <a:p>
            <a:endParaRPr/>
          </a:p>
          <a:p>
            <a:r>
              <a:t>Revenue shows gradual growth across the year.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actions:</a:t>
            </a:r>
          </a:p>
          <a:p>
            <a:r>
              <a:t>- Target female customer segment</a:t>
            </a:r>
          </a:p>
          <a:p>
            <a:r>
              <a:t>- Expand younger customer acquisition</a:t>
            </a:r>
          </a:p>
          <a:p>
            <a:r>
              <a:t>- Upsell premium credit cards</a:t>
            </a:r>
          </a:p>
          <a:p>
            <a:r>
              <a:t>- Build partnerships with fuel and retail brands</a:t>
            </a:r>
          </a:p>
          <a:p>
            <a:r>
              <a:t>- Expand into new geographic markets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dashboard provides insights into customer behavior,</a:t>
            </a:r>
          </a:p>
          <a:p>
            <a:r>
              <a:t>transaction patterns, and financial performance.</a:t>
            </a:r>
          </a:p>
          <a:p>
            <a:endParaRPr/>
          </a:p>
          <a:p>
            <a:r>
              <a:t>These insights help financial institutions optimize</a:t>
            </a:r>
          </a:p>
          <a:p>
            <a:r>
              <a:t>marketing strategies, product offerings, and revenue growth.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55730"/>
          </a:xfrm>
        </p:spPr>
        <p:txBody>
          <a:bodyPr>
            <a:normAutofit/>
          </a:bodyPr>
          <a:lstStyle/>
          <a:p>
            <a:r>
              <a:rPr sz="11500"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577</Words>
  <Application>Microsoft Office PowerPoint</Application>
  <PresentationFormat>On-screen Show (4:3)</PresentationFormat>
  <Paragraphs>148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Garamond</vt:lpstr>
      <vt:lpstr>Organic</vt:lpstr>
      <vt:lpstr>Credit Card Customer &amp; Transaction Analytics Dashboard</vt:lpstr>
      <vt:lpstr>Project Overview</vt:lpstr>
      <vt:lpstr>Business Problem</vt:lpstr>
      <vt:lpstr>Data Extraction using SQL</vt:lpstr>
      <vt:lpstr>Data Modeling</vt:lpstr>
      <vt:lpstr>Data Cleaning</vt:lpstr>
      <vt:lpstr>DAX Measures</vt:lpstr>
      <vt:lpstr>Overall Financial Performance</vt:lpstr>
      <vt:lpstr>Gender Spending Analysis</vt:lpstr>
      <vt:lpstr>Age Group Revenue Drivers</vt:lpstr>
      <vt:lpstr>Card Category Performance</vt:lpstr>
      <vt:lpstr>Customer Occupation Segmentation</vt:lpstr>
      <vt:lpstr>Spending Behavior</vt:lpstr>
      <vt:lpstr>Geographic Revenue Distribution</vt:lpstr>
      <vt:lpstr>Payment Method Preferences</vt:lpstr>
      <vt:lpstr>Revenue Growth Trend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2026-03-08T10:52:27Z</dcterms:modified>
  <cp:category/>
</cp:coreProperties>
</file>